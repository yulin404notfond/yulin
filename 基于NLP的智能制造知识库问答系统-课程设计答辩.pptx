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notesSlides/notesSlide1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28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各位老师好，我汇报的题目是基于NLP的智能制造知识库问答系统。本项目是制造智能技术课程设计，运用Vibe Coding方法开发，采用BM25与Faiss多路召回策略，实现工业知识的高效检索与智能问答。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汇报共分为六个部分：首先介绍研究背景与意义，然后阐述系统架构与技术方向映射，接着说明数据资源构建过程，第四部分详细介绍系统实现，包括前端、后端、数据库和算法模块，第五部分展示测试结果并披露AI使用情况，最后进行总结与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看研究背景。随着智能制造发展，工业知识体量庞大且分散，故障诊断高度依赖个人经验，传统人工查阅方式效率低下。本项目的研究意义在于：通过智能问答系统提升知识检索效率，构建统一知识入口，降低经验门槛，为设备操作人员和维修工程师提供即时技术支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系统采用B/S三层架构。表现层使用Vue3和Element Plus构建问答交互界面；业务逻辑层使用Python Flask提供RESTful API，负责问题理解、多路召回、融合排序和日志记录；数据层包括SQLite存储问答日志、Faiss存储向量索引、BM25存储全文索引。本项目覆盖了课程四个技术方向：Web前端开发、后端开发与算法、自然语言处理、数据分析与可视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数据资源构建分为四个步骤。第一步数据预处理，递归遍历PANDAX数据集的嵌套JSON结构，提取1860条问答对并清洗文本。第二步构建BM25全文索引，使用Jieba中文分词后构建倒排索引。第三步构建Faiss向量索引，使用Sentence-BERT将问题编码为384维向量，建立内积相似度索引。第四步保存元数据并初始化SQLite数据库，创建qa_log表用于存储问答日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前端使用Vue3和Element Plus，通过CDN引入无需构建环境，实现对话式问答界面，规划了问答、知识库、历史、统计四个页面。后端使用Python Flask提供RESTful API，包含/ask问答、/stats统计、/history历史、/health健康检查四个接口，集成SQLite数据库自动记录问答日志。每次提问都会将问题、Top1答案、得分和检索耗时写入数据库。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核心算法采用多路召回策略。用户问题首先经过Jieba中文分词进行问题理解，然后并行执行两路检索：BM25全文检索擅长关键词精确匹配，Faiss向量检索使用Sentence-BERT编码为384维向量，擅长语义相似度匹配。两路结果采用RRF倒数排名融合策略，按排名各加权0.5，避免得分尺度差异问题，最终取Top-5结果返回前端。这种融合策略兼顾了精确性与语义泛化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测试方面，编写了unittest自动化测试脚本，覆盖项目结构、数据预处理、索引文件、数据库、API接口6大类共25个测试用例，全部通过。集成调试中解决了模型加载超时、得分尺度不一致、Git合并冲突、Faiss中文路径四个问题。AI使用方面，使用了豆包AI编程助手、DeepSeek V4和Trae，约70%代码由AI生成初稿后人工审查修改。关键Prompt策略包括任务拆解、约束说明、上下文工程和验收标准。同时披露了三个AI出错案例及纠正过程，所有AI生成代码均经过人工理解消化。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最后进行总结与展望。本项目完成了完整的B/S架构智能制造知识库问答系统，覆盖4个课程技术方向，具备完整的工程化实践。创新点包括：BM25与Faiss多路召回融合策略、轻量级可演示架构、完整的Vibe Coding工程化实践。不足之处在于检索精度有限、缺少生成式问答、前端功能较简单、部署方式简单。后续可以从引入重排序模型、构建RAG生成式问答、完善前端多页面功能、Docker容器化部署四个方向进行改进。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以上就是我的全部汇报内容。本项目构建了基于NLP的智能制造知识库问答系统，采用BM25与Faiss多路召回策略，实现了完整的B/S架构可运行demo。感谢各位老师的聆听，恳请批评指正，现在进入问答环节。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4826000" cy="6858000"/>
          </a:xfrm>
          <a:prstGeom prst="roundRect">
            <a:avLst>
              <a:gd name="adj" fmla="val 0"/>
            </a:avLst>
          </a:prstGeom>
          <a:solidFill>
            <a:srgbClr val="7B253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2032000"/>
            <a:ext cx="3810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基于NLP的</a:t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40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智能制造知识库</a:t>
            </a:r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40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问答系统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4318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4B8A8"/>
                </a:solidFill>
                <a:latin typeface="Noto Serif SC"/>
                <a:ea typeface="Noto Serif SC"/>
                <a:cs typeface="Noto Serif SC"/>
                <a:sym typeface="Noto Serif SC"/>
              </a:rPr>
              <a:t>课程设计答辩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588000" y="1905000"/>
            <a:ext cx="584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制造智能技术课程设计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7473" flipH="false" flipV="false">
            <a:off x="5588007" y="2724150"/>
            <a:ext cx="584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B253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5588000" y="3048000"/>
            <a:ext cx="584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运用Vibe Coding方法开发面向制造场景的智能问答应用，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采用BM25与Faiss多路召回策略，实现工业知识的高效检索。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588000" y="4826000"/>
            <a:ext cx="584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400">
                <a:solidFill>
                  <a:srgbClr val="5A5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课程名称：制造智能技术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400">
                <a:solidFill>
                  <a:srgbClr val="5A5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技术方向：Web前端 / 后端算法 / 自然语言处理 / 数据分析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400">
                <a:solidFill>
                  <a:srgbClr val="5A5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答辩日期：2026年9月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98500"/>
            <a:ext cx="254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目录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3335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69696"/>
                </a:solidFill>
                <a:latin typeface="Noto Serif SC"/>
                <a:ea typeface="Noto Serif SC"/>
                <a:cs typeface="Noto Serif SC"/>
                <a:sym typeface="Noto Serif SC"/>
              </a:rPr>
              <a:t>CONTENTS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708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B253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2095500"/>
            <a:ext cx="635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778000" y="2095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研究背景与意义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778000" y="25400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工业知识检索痛点与智能问答应用价值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046" flipH="false" flipV="false">
            <a:off x="1016008" y="3041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3365500"/>
            <a:ext cx="635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02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778000" y="3365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系统架构与技术方向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778000" y="38100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B/S三层架构与四个课程技术方向映射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9046" flipH="false" flipV="false">
            <a:off x="1016008" y="4311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1016000" y="4635500"/>
            <a:ext cx="635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03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778000" y="4635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数据资源构建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778000" y="50800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PANDAX数据集预处理与双索引构建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046" flipH="false" flipV="false">
            <a:off x="1016008" y="5581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6350000" y="2095500"/>
            <a:ext cx="635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04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112000" y="2095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系统实现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112000" y="25400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前端界面、后端API、数据库与多路召回算法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9046" flipH="false" flipV="false">
            <a:off x="6350008" y="3041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6350000" y="3365500"/>
            <a:ext cx="635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05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112000" y="3365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测试与AI使用披露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112000" y="38100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自动化测试结果与Vibe Coding实践披露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9046" flipH="false" flipV="false">
            <a:off x="6350008" y="4311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6350000" y="4635500"/>
            <a:ext cx="635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06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112000" y="4635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总结与展望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112000" y="50800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项目成果总结、创新点与后续改进方向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9046" flipH="false" flipV="false">
            <a:off x="6350008" y="5581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35000"/>
            <a:ext cx="1016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研究背景与意义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7" flipH="false" flipV="false">
            <a:off x="1016004" y="1327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B253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016000" y="1587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研究背景：工业知识检索痛点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159000"/>
            <a:ext cx="4826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01 知识体量庞大</a:t>
            </a:r>
            <a:r>
              <a:rPr lang="en-US" b="false" i="false" strike="noStrike" u="none" sz="13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工业设备种类繁多，手册、维修指南、技术标准等知识体量呈指数级增长，人工查阅效率低下。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429000"/>
            <a:ext cx="4826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知识分散难统一</a:t>
            </a:r>
            <a:r>
              <a:rPr lang="en-US" b="false" i="false" strike="noStrike" u="none" sz="13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设备知识分散在手册、维修记录、技术公告等不同文档中，缺乏统一检索入口，查找特定信息耗时较长。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4699000"/>
            <a:ext cx="4826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03 经验依赖程度高</a:t>
            </a:r>
            <a:r>
              <a:rPr lang="en-US" b="false" i="false" strike="noStrike" u="none" sz="13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故障诊断高度依赖资深工程师个人经验，知识难以传承复用，新员工培训成本高、上手周期长。</a:t>
            </a:r>
          </a:p>
        </p:txBody>
      </p:sp>
      <p:cxnSp>
        <p:nvCxnSpPr>
          <p:cNvPr name="Connector 8" id="8"/>
          <p:cNvCxnSpPr/>
          <p:nvPr/>
        </p:nvCxnSpPr>
        <p:spPr>
          <a:xfrm rot="5390035" flipH="false" flipV="false">
            <a:off x="3905250" y="3835409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2D2D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6604000" y="1587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研究意义：智能问答应用价值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604000" y="2159000"/>
            <a:ext cx="4826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01 提升检索效率</a:t>
            </a:r>
            <a:r>
              <a:rPr lang="en-US" b="false" i="false" strike="noStrike" u="none" sz="13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用户通过自然语言提问即可获取相关答案，将知识检索时间从分钟级压缩到秒级，提升生产运维效率。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604000" y="3429000"/>
            <a:ext cx="4826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统一知识入口</a:t>
            </a:r>
            <a:r>
              <a:rPr lang="en-US" b="false" i="false" strike="noStrike" u="none" sz="13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构建结构化领域知识库，将分散的设备手册、故障案例、技术参数统一管理，提供一站式知识查询服务。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604000" y="4699000"/>
            <a:ext cx="4826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03 降低经验门槛</a:t>
            </a:r>
            <a:r>
              <a:rPr lang="en-US" b="false" i="false" strike="noStrike" u="none" sz="13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将资深工程师的经验知识固化到知识库中，降低故障诊断对个人经验的依赖，加速新员工技能成长。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35000"/>
            <a:ext cx="1016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系统架构与技术方向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7" flipH="false" flipV="false">
            <a:off x="1016004" y="1327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B253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016000" y="1651000"/>
            <a:ext cx="10160000" cy="698500"/>
          </a:xfrm>
          <a:prstGeom prst="roundRect">
            <a:avLst>
              <a:gd name="adj" fmla="val 0"/>
            </a:avLst>
          </a:prstGeom>
          <a:solidFill>
            <a:srgbClr val="7B2532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270000" y="1651000"/>
            <a:ext cx="9652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B/S三层架构：</a:t>
            </a:r>
            <a:r>
              <a:rPr lang="en-US" b="false" i="false" strike="noStrike" u="none" sz="15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表现层（Vue3+Element Plus）→ 业务逻辑层（Python Flask）→ 数据层（SQLite+Faiss+BM25）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603500"/>
            <a:ext cx="3048000" cy="1524000"/>
          </a:xfrm>
          <a:prstGeom prst="roundRect">
            <a:avLst>
              <a:gd name="adj" fmla="val 0"/>
            </a:avLst>
          </a:prstGeom>
          <a:solidFill>
            <a:srgbClr val="7B2532">
              <a:alpha val="12000"/>
            </a:srgbClr>
          </a:solidFill>
          <a:ln w="12700" cmpd="sng" cap="flat">
            <a:solidFill>
              <a:srgbClr val="7B253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730500"/>
            <a:ext cx="3048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表现层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43000" y="31115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Vue3 + Element Plus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问答交互界面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知识卡片展示</a:t>
            </a:r>
          </a:p>
        </p:txBody>
      </p:sp>
      <p:cxnSp>
        <p:nvCxnSpPr>
          <p:cNvPr name="Connector 9" id="9"/>
          <p:cNvCxnSpPr/>
          <p:nvPr/>
        </p:nvCxnSpPr>
        <p:spPr>
          <a:xfrm rot="-85925" flipH="false" flipV="false">
            <a:off x="4191079" y="3359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B2532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4699000" y="2603500"/>
            <a:ext cx="3048000" cy="1524000"/>
          </a:xfrm>
          <a:prstGeom prst="roundRect">
            <a:avLst>
              <a:gd name="adj" fmla="val 0"/>
            </a:avLst>
          </a:prstGeom>
          <a:solidFill>
            <a:srgbClr val="A34450">
              <a:alpha val="12000"/>
            </a:srgbClr>
          </a:solidFill>
          <a:ln w="12700" cmpd="sng" cap="flat">
            <a:solidFill>
              <a:srgbClr val="A3445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99000" y="2730500"/>
            <a:ext cx="3048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A34450"/>
                </a:solidFill>
                <a:latin typeface="Noto Serif SC"/>
                <a:ea typeface="Noto Serif SC"/>
                <a:cs typeface="Noto Serif SC"/>
                <a:sym typeface="Noto Serif SC"/>
              </a:rPr>
              <a:t>业务逻辑层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826000" y="31115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Python Flask RESTful API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问题理解 / 多路召回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融合排序 / 日志记录</a:t>
            </a:r>
          </a:p>
        </p:txBody>
      </p:sp>
      <p:cxnSp>
        <p:nvCxnSpPr>
          <p:cNvPr name="Connector 13" id="13"/>
          <p:cNvCxnSpPr/>
          <p:nvPr/>
        </p:nvCxnSpPr>
        <p:spPr>
          <a:xfrm rot="-85925" flipH="false" flipV="false">
            <a:off x="7874079" y="3359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B2532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8382000" y="2603500"/>
            <a:ext cx="2794000" cy="1524000"/>
          </a:xfrm>
          <a:prstGeom prst="roundRect">
            <a:avLst>
              <a:gd name="adj" fmla="val 0"/>
            </a:avLst>
          </a:prstGeom>
          <a:solidFill>
            <a:srgbClr val="D4B8A8">
              <a:alpha val="20000"/>
            </a:srgbClr>
          </a:solidFill>
          <a:ln w="12700" cmpd="sng" cap="flat">
            <a:solidFill>
              <a:srgbClr val="B4968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82000" y="2730500"/>
            <a:ext cx="2794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785A46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509000" y="3111500"/>
            <a:ext cx="254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SQLite：问答日志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Faiss：向量索引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BM25：全文索引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444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课程技术方向映射（覆盖4个方向）</a:t>
            </a:r>
            <a:endParaRPr lang="en-US" sz="1100"/>
          </a:p>
        </p:txBody>
      </p:sp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1016000" y="4953000"/>
          <a:ext cx="10160000" cy="1397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762000"/>
                <a:gridCol w="2286000"/>
                <a:gridCol w="7112000"/>
              </a:tblGrid>
              <a:tr h="406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序号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B2532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技术方向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B2532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在系统中的实际作用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B2532">
                        <a:alpha val="100000"/>
                      </a:srgbClr>
                    </a:solidFill>
                  </a:tcPr>
                </a:tc>
              </a:tr>
              <a:tr h="330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Web前端开发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Vue3框架构建问答交互界面，对话式UI、知识卡片展示、结果高亮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0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后端开发与算法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Python Flask搭建后端服务，RESTful API接口，集成NLP处理模块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0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自然语言处理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Jieba分词、Sentence-BERT向量化、BM25/Faiss相似度计算、多路召回融合排序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35000"/>
            <a:ext cx="1016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数据资源构建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7" flipH="false" flipV="false">
            <a:off x="1016004" y="1327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B253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016000" y="1651000"/>
            <a:ext cx="4318000" cy="2032000"/>
          </a:xfrm>
          <a:prstGeom prst="roundRect">
            <a:avLst>
              <a:gd name="adj" fmla="val 0"/>
            </a:avLst>
          </a:prstGeom>
          <a:solidFill>
            <a:srgbClr val="7B2532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270000" y="1841500"/>
            <a:ext cx="381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PANDAX工业QAE数据集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2222500"/>
            <a:ext cx="381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首个开源工业问答与解释数据集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聚焦工业系统部分-整体、功能、参数三大主题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2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1860</a:t>
            </a:r>
            <a:r>
              <a:rPr lang="en-US" b="false" i="false" strike="noStrike" u="none" sz="12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 个QAE三元组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涵盖冷却系统、绿色技术等工业领域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937000"/>
            <a:ext cx="4318000" cy="2159000"/>
          </a:xfrm>
          <a:prstGeom prst="roundRect">
            <a:avLst>
              <a:gd name="adj" fmla="val 0"/>
            </a:avLst>
          </a:prstGeom>
          <a:solidFill>
            <a:srgbClr val="A34450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70000" y="4127500"/>
            <a:ext cx="381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A34450"/>
                </a:solidFill>
                <a:latin typeface="Noto Serif SC"/>
                <a:ea typeface="Noto Serif SC"/>
                <a:cs typeface="Noto Serif SC"/>
                <a:sym typeface="Noto Serif SC"/>
              </a:rPr>
              <a:t>SQLite数据库设计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70000" y="4508500"/>
            <a:ext cx="3810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qa_log表字段：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id / question / top_question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top_answer / score / latency_ms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created_at（自动时间戳）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支持日志插入、历史查询、统计分析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842000" y="1651000"/>
            <a:ext cx="5334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数据处理与索引构建流程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842000" y="2095500"/>
            <a:ext cx="5334000" cy="698500"/>
          </a:xfrm>
          <a:prstGeom prst="roundRect">
            <a:avLst>
              <a:gd name="adj" fmla="val 0"/>
            </a:avLst>
          </a:prstGeom>
          <a:solidFill>
            <a:srgbClr val="7B2532">
              <a:alpha val="10000"/>
            </a:srgbClr>
          </a:solidFill>
          <a:ln w="12700" cmpd="sng" cap="flat">
            <a:solidFill>
              <a:srgbClr val="7B253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032500" y="2095500"/>
            <a:ext cx="508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1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604000" y="2159000"/>
            <a:ext cx="4445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2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数据预处理：</a:t>
            </a:r>
            <a:r>
              <a:rPr lang="en-US" b="false" i="false" strike="noStrike" u="none" sz="12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递归遍历JSON，提取所有Q/A对，文本清洗，输出processed_qa.json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5171155" flipH="false" flipV="false">
            <a:off x="8413750" y="2883111"/>
            <a:ext cx="19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B2532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5842000" y="3048000"/>
            <a:ext cx="5334000" cy="698500"/>
          </a:xfrm>
          <a:prstGeom prst="roundRect">
            <a:avLst>
              <a:gd name="adj" fmla="val 0"/>
            </a:avLst>
          </a:prstGeom>
          <a:solidFill>
            <a:srgbClr val="A34450">
              <a:alpha val="10000"/>
            </a:srgbClr>
          </a:solidFill>
          <a:ln w="12700" cmpd="sng" cap="flat">
            <a:solidFill>
              <a:srgbClr val="A3445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032500" y="3048000"/>
            <a:ext cx="508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A34450"/>
                </a:solidFill>
                <a:latin typeface="Noto Serif SC"/>
                <a:ea typeface="Noto Serif SC"/>
                <a:cs typeface="Noto Serif SC"/>
                <a:sym typeface="Noto Serif SC"/>
              </a:rPr>
              <a:t>2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604000" y="3111500"/>
            <a:ext cx="4445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2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BM25全文索引：</a:t>
            </a:r>
            <a:r>
              <a:rPr lang="en-US" b="false" i="false" strike="noStrike" u="none" sz="12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Jieba中文分词，构建倒排索引，pickle序列化保存bm25.pkl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5171155" flipH="false" flipV="false">
            <a:off x="8413750" y="3835611"/>
            <a:ext cx="19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B2532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5842000" y="4000500"/>
            <a:ext cx="5334000" cy="698500"/>
          </a:xfrm>
          <a:prstGeom prst="roundRect">
            <a:avLst>
              <a:gd name="adj" fmla="val 0"/>
            </a:avLst>
          </a:prstGeom>
          <a:solidFill>
            <a:srgbClr val="B49682">
              <a:alpha val="12000"/>
            </a:srgbClr>
          </a:solidFill>
          <a:ln w="12700" cmpd="sng" cap="flat">
            <a:solidFill>
              <a:srgbClr val="B4968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032500" y="4000500"/>
            <a:ext cx="508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785A46"/>
                </a:solidFill>
                <a:latin typeface="Noto Serif SC"/>
                <a:ea typeface="Noto Serif SC"/>
                <a:cs typeface="Noto Serif SC"/>
                <a:sym typeface="Noto Serif SC"/>
              </a:rPr>
              <a:t>3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604000" y="4064000"/>
            <a:ext cx="4445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2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Faiss向量索引：</a:t>
            </a:r>
            <a:r>
              <a:rPr lang="en-US" b="false" i="false" strike="noStrike" u="none" sz="12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Sentence-BERT编码384维向量，L2归一化，IndexFlatIP内积检索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5171155" flipH="false" flipV="false">
            <a:off x="8413750" y="4788111"/>
            <a:ext cx="19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B2532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5842000" y="4953000"/>
            <a:ext cx="5334000" cy="698500"/>
          </a:xfrm>
          <a:prstGeom prst="roundRect">
            <a:avLst>
              <a:gd name="adj" fmla="val 0"/>
            </a:avLst>
          </a:prstGeom>
          <a:solidFill>
            <a:srgbClr val="7B2532">
              <a:alpha val="15000"/>
            </a:srgbClr>
          </a:solidFill>
          <a:ln w="12700" cmpd="sng" cap="flat">
            <a:solidFill>
              <a:srgbClr val="7B253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032500" y="4953000"/>
            <a:ext cx="508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4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604000" y="5016500"/>
            <a:ext cx="4445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2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元数据保存：</a:t>
            </a:r>
            <a:r>
              <a:rPr lang="en-US" b="false" i="false" strike="noStrike" u="none" sz="12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问答对列表保存qa_meta.pkl，数据库初始化创建qa_log表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35000"/>
            <a:ext cx="1016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系统实现：前端与后端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7" flipH="false" flipV="false">
            <a:off x="1016004" y="1327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B253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016000" y="1587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前端实现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095500"/>
            <a:ext cx="4826000" cy="1651000"/>
          </a:xfrm>
          <a:prstGeom prst="roundRect">
            <a:avLst>
              <a:gd name="adj" fmla="val 0"/>
            </a:avLst>
          </a:prstGeom>
          <a:solidFill>
            <a:srgbClr val="7B2532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2222500"/>
            <a:ext cx="431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技术栈：</a:t>
            </a:r>
            <a:r>
              <a:rPr lang="en-US" b="false" i="false" strike="noStrike" u="none" sz="12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Vue3 + Element Plus + Axios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2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部署方式：</a:t>
            </a:r>
            <a:r>
              <a:rPr lang="en-US" b="false" i="false" strike="noStrike" u="none" sz="12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CDN引入，无需Node.js构建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2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界面特点：</a:t>
            </a:r>
            <a:r>
              <a:rPr lang="en-US" b="false" i="false" strike="noStrike" u="none" sz="12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对话式UI，知识卡片展示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2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交互功能：</a:t>
            </a:r>
            <a:r>
              <a:rPr lang="en-US" b="false" i="false" strike="noStrike" u="none" sz="12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回车快捷提问、加载状态、错误提示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2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结果展示：</a:t>
            </a:r>
            <a:r>
              <a:rPr lang="en-US" b="false" i="false" strike="noStrike" u="none" sz="12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Top-5候选问答，相似度得分标注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937000"/>
            <a:ext cx="4826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页面规划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4318000"/>
            <a:ext cx="4826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2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问答页：</a:t>
            </a:r>
            <a:r>
              <a:rPr lang="en-US" b="false" i="false" strike="noStrike" u="none" sz="12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对话式界面，聊天气泡展示问答过程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2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知识库页：</a:t>
            </a:r>
            <a:r>
              <a:rPr lang="en-US" b="false" i="false" strike="noStrike" u="none" sz="12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文档列表、覆盖领域、统计信息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2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历史页：</a:t>
            </a:r>
            <a:r>
              <a:rPr lang="en-US" b="false" i="false" strike="noStrike" u="none" sz="12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时间线展示问答记录，关键词检索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2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统计页：</a:t>
            </a:r>
            <a:r>
              <a:rPr lang="en-US" b="false" i="false" strike="noStrike" u="none" sz="12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问答趋势、高频问题TOP榜、覆盖度</a:t>
            </a:r>
          </a:p>
        </p:txBody>
      </p:sp>
      <p:cxnSp>
        <p:nvCxnSpPr>
          <p:cNvPr name="Connector 9" id="9"/>
          <p:cNvCxnSpPr/>
          <p:nvPr/>
        </p:nvCxnSpPr>
        <p:spPr>
          <a:xfrm rot="5390177" flipH="false" flipV="false">
            <a:off x="4000500" y="3867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2D2D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6604000" y="1587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后端实现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604000" y="2095500"/>
            <a:ext cx="4572000" cy="1270000"/>
          </a:xfrm>
          <a:prstGeom prst="roundRect">
            <a:avLst>
              <a:gd name="adj" fmla="val 0"/>
            </a:avLst>
          </a:prstGeom>
          <a:solidFill>
            <a:srgbClr val="A34450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858000" y="2222500"/>
            <a:ext cx="406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A34450"/>
                </a:solidFill>
                <a:latin typeface="Noto Serif SC"/>
                <a:ea typeface="Noto Serif SC"/>
                <a:cs typeface="Noto Serif SC"/>
                <a:sym typeface="Noto Serif SC"/>
              </a:rPr>
              <a:t>框架：</a:t>
            </a:r>
            <a:r>
              <a:rPr lang="en-US" b="false" i="false" strike="noStrike" u="none" sz="12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Python Flask + Flask-CORS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200">
                <a:solidFill>
                  <a:srgbClr val="A34450"/>
                </a:solidFill>
                <a:latin typeface="Noto Serif SC"/>
                <a:ea typeface="Noto Serif SC"/>
                <a:cs typeface="Noto Serif SC"/>
                <a:sym typeface="Noto Serif SC"/>
              </a:rPr>
              <a:t>架构：</a:t>
            </a:r>
            <a:r>
              <a:rPr lang="en-US" b="false" i="false" strike="noStrike" u="none" sz="12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RESTful API，JSON请求响应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200">
                <a:solidFill>
                  <a:srgbClr val="A34450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数据库：</a:t>
            </a:r>
            <a:r>
              <a:rPr lang="en-US" b="false" i="false" strike="noStrike" u="none" sz="12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SQLite，参数化查询防注入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200">
                <a:solidFill>
                  <a:srgbClr val="A34450"/>
                </a:solidFill>
                <a:latin typeface="Noto Serif SC"/>
                <a:ea typeface="Noto Serif SC"/>
                <a:cs typeface="Noto Serif SC"/>
                <a:sym typeface="Noto Serif SC"/>
              </a:rPr>
              <a:t>特性：</a:t>
            </a:r>
            <a:r>
              <a:rPr lang="en-US" b="false" i="false" strike="noStrike" u="none" sz="12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离线模型加载，中文路径兼容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604000" y="3556000"/>
            <a:ext cx="457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API接口清单</a:t>
            </a:r>
            <a:endParaRPr lang="en-US" sz="1100"/>
          </a:p>
        </p:txBody>
      </p: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6604000" y="3937000"/>
          <a:ext cx="4572000" cy="2032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43000"/>
                <a:gridCol w="889000"/>
                <a:gridCol w="2540000"/>
              </a:tblGrid>
              <a:tr h="406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接口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B2532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方法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B2532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功能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B2532">
                        <a:alpha val="100000"/>
                      </a:srgbClr>
                    </a:solidFill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/ask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POST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问答检索，返回Top-5结果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/stats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GET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系统统计，知识库与日志指标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/history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GET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历史问答记录，支持limit参数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/health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GET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健康检查，服务可用性检测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35000"/>
            <a:ext cx="1016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核心算法：多路召回与融合排序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7" flipH="false" flipV="false">
            <a:off x="1016004" y="1327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B253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016000" y="1651000"/>
            <a:ext cx="1778000" cy="762000"/>
          </a:xfrm>
          <a:prstGeom prst="roundRect">
            <a:avLst>
              <a:gd name="adj" fmla="val 0"/>
            </a:avLst>
          </a:prstGeom>
          <a:solidFill>
            <a:srgbClr val="7B2532">
              <a:alpha val="15000"/>
            </a:srgbClr>
          </a:solidFill>
          <a:ln w="12700" cmpd="sng" cap="flat">
            <a:solidFill>
              <a:srgbClr val="7B253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651000"/>
            <a:ext cx="177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用户问题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自然语言输入</a:t>
            </a:r>
          </a:p>
        </p:txBody>
      </p:sp>
      <p:cxnSp>
        <p:nvCxnSpPr>
          <p:cNvPr name="Connector 6" id="6"/>
          <p:cNvCxnSpPr/>
          <p:nvPr/>
        </p:nvCxnSpPr>
        <p:spPr>
          <a:xfrm rot="-85925" flipH="false" flipV="false">
            <a:off x="2794079" y="2025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B2532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3302000" y="1651000"/>
            <a:ext cx="1778000" cy="762000"/>
          </a:xfrm>
          <a:prstGeom prst="roundRect">
            <a:avLst>
              <a:gd name="adj" fmla="val 0"/>
            </a:avLst>
          </a:prstGeom>
          <a:solidFill>
            <a:srgbClr val="A34450">
              <a:alpha val="15000"/>
            </a:srgbClr>
          </a:solidFill>
          <a:ln w="12700" cmpd="sng" cap="flat">
            <a:solidFill>
              <a:srgbClr val="A3445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302000" y="1651000"/>
            <a:ext cx="177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A34450"/>
                </a:solidFill>
                <a:latin typeface="Noto Serif SC"/>
                <a:ea typeface="Noto Serif SC"/>
                <a:cs typeface="Noto Serif SC"/>
                <a:sym typeface="Noto Serif SC"/>
              </a:rPr>
              <a:t>问题理解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A34450"/>
                </a:solidFill>
                <a:latin typeface="Noto Serif SC"/>
                <a:ea typeface="Noto Serif SC"/>
                <a:cs typeface="Noto Serif SC"/>
                <a:sym typeface="Noto Serif SC"/>
              </a:rPr>
              <a:t>Jieba中文分词</a:t>
            </a:r>
          </a:p>
        </p:txBody>
      </p:sp>
      <p:cxnSp>
        <p:nvCxnSpPr>
          <p:cNvPr name="Connector 9" id="9"/>
          <p:cNvCxnSpPr/>
          <p:nvPr/>
        </p:nvCxnSpPr>
        <p:spPr>
          <a:xfrm rot="-85925" flipH="false" flipV="false">
            <a:off x="5080079" y="2025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B2532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5588000" y="1524000"/>
            <a:ext cx="2032000" cy="571500"/>
          </a:xfrm>
          <a:prstGeom prst="roundRect">
            <a:avLst>
              <a:gd name="adj" fmla="val 0"/>
            </a:avLst>
          </a:prstGeom>
          <a:solidFill>
            <a:srgbClr val="7B2532">
              <a:alpha val="10000"/>
            </a:srgbClr>
          </a:solidFill>
          <a:ln w="12700" cmpd="sng" cap="flat">
            <a:solidFill>
              <a:srgbClr val="7B253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588000" y="1524000"/>
            <a:ext cx="203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BM25全文检索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关键词精确匹配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588000" y="2286000"/>
            <a:ext cx="2032000" cy="571500"/>
          </a:xfrm>
          <a:prstGeom prst="roundRect">
            <a:avLst>
              <a:gd name="adj" fmla="val 0"/>
            </a:avLst>
          </a:prstGeom>
          <a:solidFill>
            <a:srgbClr val="A34450">
              <a:alpha val="10000"/>
            </a:srgbClr>
          </a:solidFill>
          <a:ln w="12700" cmpd="sng" cap="flat">
            <a:solidFill>
              <a:srgbClr val="A3445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588000" y="2286000"/>
            <a:ext cx="203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A34450"/>
                </a:solidFill>
                <a:latin typeface="Noto Serif SC"/>
                <a:ea typeface="Noto Serif SC"/>
                <a:cs typeface="Noto Serif SC"/>
                <a:sym typeface="Noto Serif SC"/>
              </a:rPr>
              <a:t>Faiss向量检索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A34450"/>
                </a:solidFill>
                <a:latin typeface="Noto Serif SC"/>
                <a:ea typeface="Noto Serif SC"/>
                <a:cs typeface="Noto Serif SC"/>
                <a:sym typeface="Noto Serif SC"/>
              </a:rPr>
              <a:t>语义相似度匹配</a:t>
            </a:r>
          </a:p>
        </p:txBody>
      </p:sp>
      <p:cxnSp>
        <p:nvCxnSpPr>
          <p:cNvPr name="Connector 14" id="14"/>
          <p:cNvCxnSpPr/>
          <p:nvPr/>
        </p:nvCxnSpPr>
        <p:spPr>
          <a:xfrm rot="758813" flipH="false" flipV="false">
            <a:off x="7612257" y="1860569"/>
            <a:ext cx="52363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B2532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15" id="15"/>
          <p:cNvCxnSpPr/>
          <p:nvPr/>
        </p:nvCxnSpPr>
        <p:spPr>
          <a:xfrm rot="-1993192" flipH="false" flipV="false">
            <a:off x="7574528" y="2412964"/>
            <a:ext cx="59905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B2532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8128000" y="1651000"/>
            <a:ext cx="1778000" cy="762000"/>
          </a:xfrm>
          <a:prstGeom prst="roundRect">
            <a:avLst>
              <a:gd name="adj" fmla="val 0"/>
            </a:avLst>
          </a:prstGeom>
          <a:solidFill>
            <a:srgbClr val="7B2532">
              <a:alpha val="20000"/>
            </a:srgbClr>
          </a:solidFill>
          <a:ln w="25400" cmpd="sng" cap="flat">
            <a:solidFill>
              <a:srgbClr val="7B253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0" y="1651000"/>
            <a:ext cx="177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融合排序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RRF按排名加权</a:t>
            </a:r>
          </a:p>
        </p:txBody>
      </p:sp>
      <p:cxnSp>
        <p:nvCxnSpPr>
          <p:cNvPr name="Connector 18" id="18"/>
          <p:cNvCxnSpPr/>
          <p:nvPr/>
        </p:nvCxnSpPr>
        <p:spPr>
          <a:xfrm rot="-85925" flipH="false" flipV="false">
            <a:off x="9906079" y="2025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B2532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10414000" y="1651000"/>
            <a:ext cx="762000" cy="762000"/>
          </a:xfrm>
          <a:prstGeom prst="roundRect">
            <a:avLst>
              <a:gd name="adj" fmla="val 0"/>
            </a:avLst>
          </a:prstGeom>
          <a:solidFill>
            <a:srgbClr val="7B2532">
              <a:alpha val="25000"/>
            </a:srgbClr>
          </a:solidFill>
          <a:ln w="25400" cmpd="sng" cap="flat">
            <a:solidFill>
              <a:srgbClr val="7B253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414000" y="1651000"/>
            <a:ext cx="76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Top-5</a:t>
            </a:r>
            <a:endParaRPr lang="en-US" sz="1100"/>
          </a:p>
          <a:p>
            <a:pPr algn="ctr" marL="0" indent="0">
              <a:lnSpc>
                <a:spcPct val="100000"/>
              </a:lnSpc>
            </a:pPr>
            <a:r>
              <a:rPr lang="en-US" b="true" i="false" strike="noStrike" u="none" sz="11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结果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016000" y="317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各模块技术细节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16000" y="3683000"/>
            <a:ext cx="2413000" cy="2286000"/>
          </a:xfrm>
          <a:prstGeom prst="roundRect">
            <a:avLst>
              <a:gd name="adj" fmla="val 0"/>
            </a:avLst>
          </a:prstGeom>
          <a:solidFill>
            <a:srgbClr val="7B2532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206500" y="3810000"/>
            <a:ext cx="203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问题理解模块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206500" y="4191000"/>
            <a:ext cx="2032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Jieba中文分词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文本清洗与标准化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为BM25检索做准备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原始问题直接送入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Sentence-BERT编码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3619500" y="3683000"/>
            <a:ext cx="2413000" cy="2286000"/>
          </a:xfrm>
          <a:prstGeom prst="roundRect">
            <a:avLst>
              <a:gd name="adj" fmla="val 0"/>
            </a:avLst>
          </a:prstGeom>
          <a:solidFill>
            <a:srgbClr val="7B2532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3810000" y="3810000"/>
            <a:ext cx="203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BM25全文检索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3810000" y="4191000"/>
            <a:ext cx="2032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概率检索模型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TF-IDF词频权重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擅长关键词精确匹配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rank_bm25库实现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倒排索引pickle序列化</a:t>
            </a:r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223000" y="3683000"/>
            <a:ext cx="2413000" cy="2286000"/>
          </a:xfrm>
          <a:prstGeom prst="roundRect">
            <a:avLst>
              <a:gd name="adj" fmla="val 0"/>
            </a:avLst>
          </a:prstGeom>
          <a:solidFill>
            <a:srgbClr val="7B2532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413500" y="3810000"/>
            <a:ext cx="203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Faiss向量检索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413500" y="4191000"/>
            <a:ext cx="2032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Sentence-BERT编码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384维稠密向量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IndexFlatIP内积检索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L2归一化等价余弦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擅长语义相似度匹配</a:t>
            </a:r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826500" y="3683000"/>
            <a:ext cx="2349500" cy="2286000"/>
          </a:xfrm>
          <a:prstGeom prst="roundRect">
            <a:avLst>
              <a:gd name="adj" fmla="val 0"/>
            </a:avLst>
          </a:prstGeom>
          <a:solidFill>
            <a:srgbClr val="7B2532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9017000" y="3810000"/>
            <a:ext cx="19685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融合排序策略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9017000" y="4191000"/>
            <a:ext cx="19685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RRF倒数排名融合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按排名加权各0.5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避免得分尺度差异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两路交集权重叠加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取Top-5返回前端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35000"/>
            <a:ext cx="1016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测试验证与AI使用披露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7" flipH="false" flipV="false">
            <a:off x="1016004" y="1327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B253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016000" y="1587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自动化测试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095500"/>
            <a:ext cx="4826000" cy="1778000"/>
          </a:xfrm>
          <a:prstGeom prst="roundRect">
            <a:avLst>
              <a:gd name="adj" fmla="val 0"/>
            </a:avLst>
          </a:prstGeom>
          <a:solidFill>
            <a:srgbClr val="7B2532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2222500"/>
            <a:ext cx="4318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2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测试框架：</a:t>
            </a:r>
            <a:r>
              <a:rPr lang="en-US" b="false" i="false" strike="noStrike" u="none" sz="12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unittest，6大类25个用例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2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项目结构测试：</a:t>
            </a:r>
            <a:r>
              <a:rPr lang="en-US" b="false" i="false" strike="noStrike" u="none" sz="12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必要文件完整性检查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2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数据预处理测试：</a:t>
            </a:r>
            <a:r>
              <a:rPr lang="en-US" b="false" i="false" strike="noStrike" u="none" sz="12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1860条问答对结构验证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2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索引文件测试：</a:t>
            </a:r>
            <a:r>
              <a:rPr lang="en-US" b="false" i="false" strike="noStrike" u="none" sz="12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BM25/Faiss/元数据加载验证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2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数据库测试：</a:t>
            </a:r>
            <a:r>
              <a:rPr lang="en-US" b="false" i="false" strike="noStrike" u="none" sz="12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初始化/插入/查询/统计全流程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2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API接口测试：</a:t>
            </a:r>
            <a:r>
              <a:rPr lang="en-US" b="false" i="false" strike="noStrike" u="none" sz="12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4个路由定义与数据库集成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4064000"/>
            <a:ext cx="4826000" cy="2032000"/>
          </a:xfrm>
          <a:prstGeom prst="roundRect">
            <a:avLst>
              <a:gd name="adj" fmla="val 0"/>
            </a:avLst>
          </a:prstGeom>
          <a:solidFill>
            <a:srgbClr val="A34450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70000" y="4191000"/>
            <a:ext cx="4318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A34450"/>
                </a:solidFill>
                <a:latin typeface="Noto Serif SC"/>
                <a:ea typeface="Noto Serif SC"/>
                <a:cs typeface="Noto Serif SC"/>
                <a:sym typeface="Noto Serif SC"/>
              </a:rPr>
              <a:t>集成调试问题解决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70000" y="4572000"/>
            <a:ext cx="431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01 模型加载超时：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设置离线模式，强制本地缓存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得分尺度不一致：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改用RRF按排名融合策略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03 Git合并冲突：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手动解决冲突，去除冲突标记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04 Faiss中文路径：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临时英文路径加载索引</a:t>
            </a:r>
          </a:p>
        </p:txBody>
      </p:sp>
      <p:cxnSp>
        <p:nvCxnSpPr>
          <p:cNvPr name="Connector 10" id="10"/>
          <p:cNvCxnSpPr/>
          <p:nvPr/>
        </p:nvCxnSpPr>
        <p:spPr>
          <a:xfrm rot="5390177" flipH="false" flipV="false">
            <a:off x="4000500" y="3867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2D2D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6604000" y="1587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AI使用披露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604000" y="2095500"/>
            <a:ext cx="4572000" cy="889000"/>
          </a:xfrm>
          <a:prstGeom prst="roundRect">
            <a:avLst>
              <a:gd name="adj" fmla="val 0"/>
            </a:avLst>
          </a:prstGeom>
          <a:solidFill>
            <a:srgbClr val="7B2532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858000" y="2222500"/>
            <a:ext cx="406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所用工具：</a:t>
            </a:r>
            <a:r>
              <a:rPr lang="en-US" b="false" i="false" strike="noStrike" u="none" sz="12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豆包AI编程助手、DeepSeek V4、Trae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代码占比：</a:t>
            </a:r>
            <a:r>
              <a:rPr lang="en-US" b="false" i="false" strike="noStrike" u="none" sz="12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约70%代码AI生成初稿，人工审查修改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604000" y="3175000"/>
            <a:ext cx="457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关键Prompt策略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604000" y="3556000"/>
            <a:ext cx="457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任务拆解：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复杂任务分解为独立子任务，明确输入输出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约束说明：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明确技术栈、架构约束、性能要求边界条件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上下文工程：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让AI先读现有代码再修改，避免破坏性改动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验收标准：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为每个子任务设定可量化的完成标准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04000" y="4699000"/>
            <a:ext cx="457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AI出错案例与纠正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604000" y="5080000"/>
            <a:ext cx="457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案例1：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预处理脚本假设JSON结构错误，改为递归遍历提取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案例2：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融合排序直接相加得分，改为RRF按排名融合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案例3：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数据库代码SQL注入风险，改为参数化查询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35000"/>
            <a:ext cx="1016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总结与展望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7" flipH="false" flipV="false">
            <a:off x="1016004" y="1327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B253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016000" y="1587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项目成果总结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095500"/>
            <a:ext cx="3175000" cy="1270000"/>
          </a:xfrm>
          <a:prstGeom prst="roundRect">
            <a:avLst>
              <a:gd name="adj" fmla="val 0"/>
            </a:avLst>
          </a:prstGeom>
          <a:solidFill>
            <a:srgbClr val="7B2532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06500" y="22225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完整B/S架构</a:t>
            </a:r>
            <a:r>
              <a:rPr lang="en-US" b="false" i="false" strike="noStrike" u="none" sz="12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前端Vue3界面 + Flask后端API + SQLite数据库 + 多路召回算法，四层架构完整可运行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508500" y="2095500"/>
            <a:ext cx="3175000" cy="1270000"/>
          </a:xfrm>
          <a:prstGeom prst="roundRect">
            <a:avLst>
              <a:gd name="adj" fmla="val 0"/>
            </a:avLst>
          </a:prstGeom>
          <a:solidFill>
            <a:srgbClr val="A3445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699000" y="22225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A34450"/>
                </a:solidFill>
                <a:latin typeface="Noto Serif SC"/>
                <a:ea typeface="Noto Serif SC"/>
                <a:cs typeface="Noto Serif SC"/>
                <a:sym typeface="Noto Serif SC"/>
              </a:rPr>
              <a:t>4个技术方向</a:t>
            </a:r>
            <a:r>
              <a:rPr lang="en-US" b="false" i="false" strike="noStrike" u="none" sz="12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覆盖Web前端、后端算法、自然语言处理、数据分析，满足课程至少3个方向要求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001000" y="2095500"/>
            <a:ext cx="3175000" cy="1270000"/>
          </a:xfrm>
          <a:prstGeom prst="roundRect">
            <a:avLst>
              <a:gd name="adj" fmla="val 0"/>
            </a:avLst>
          </a:prstGeom>
          <a:solidFill>
            <a:srgbClr val="B49682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191500" y="22225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785A46"/>
                </a:solidFill>
                <a:latin typeface="Noto Serif SC"/>
                <a:ea typeface="Noto Serif SC"/>
                <a:cs typeface="Noto Serif SC"/>
                <a:sym typeface="Noto Serif SC"/>
              </a:rPr>
              <a:t>工程化实践</a:t>
            </a:r>
            <a:r>
              <a:rPr lang="en-US" b="false" i="false" strike="noStrike" u="none" sz="12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D2D2D"/>
                </a:solidFill>
                <a:latin typeface="Noto Serif SC"/>
                <a:ea typeface="Noto Serif SC"/>
                <a:cs typeface="Noto Serif SC"/>
                <a:sym typeface="Noto Serif SC"/>
              </a:rPr>
              <a:t>1860条问答对、自动化测试、Git版本控制、完整文档，Vibe Coding全过程可追溯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683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创新点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4127500"/>
            <a:ext cx="4826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true" i="false" strike="noStrike" u="none" sz="12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01 多路召回融合策略：</a:t>
            </a:r>
            <a:r>
              <a:rPr lang="en-US" b="false" i="false" strike="noStrike" u="none" sz="12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BM25精确匹配与Faiss语义检索结合，RRF按排名融合，兼顾精确性与泛化能力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2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轻量级可演示架构：</a:t>
            </a:r>
            <a:r>
              <a:rPr lang="en-US" b="false" i="false" strike="noStrike" u="none" sz="12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CDN引入Vue3无需构建，Flask+SQLite零配置，便于课程演示和代码审查</a:t>
            </a:r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2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03 完整工程化实践：</a:t>
            </a:r>
            <a:r>
              <a:rPr lang="en-US" b="false" i="false" strike="noStrike" u="none" sz="12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Vibe Coding全流程，任务拆解、约束说明、验收标准、自动化测试、Git版本控制</a:t>
            </a:r>
          </a:p>
        </p:txBody>
      </p:sp>
      <p:cxnSp>
        <p:nvCxnSpPr>
          <p:cNvPr name="Connector 13" id="13"/>
          <p:cNvCxnSpPr/>
          <p:nvPr/>
        </p:nvCxnSpPr>
        <p:spPr>
          <a:xfrm rot="5381417" flipH="false" flipV="false">
            <a:off x="5048250" y="4914917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2D2D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604000" y="3683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7B2532"/>
                </a:solidFill>
                <a:latin typeface="Noto Serif SC"/>
                <a:ea typeface="Noto Serif SC"/>
                <a:cs typeface="Noto Serif SC"/>
                <a:sym typeface="Noto Serif SC"/>
              </a:rPr>
              <a:t>不足与后续展望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604000" y="4000500"/>
            <a:ext cx="4826000" cy="209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100">
                <a:solidFill>
                  <a:srgbClr val="A34450"/>
                </a:solidFill>
                <a:latin typeface="Noto Serif SC"/>
                <a:ea typeface="Noto Serif SC"/>
                <a:cs typeface="Noto Serif SC"/>
                <a:sym typeface="Noto Serif SC"/>
              </a:rPr>
              <a:t>01 检索精度提升：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引入Cross-Encoder重排序模型，对召回结果精排，提升Top-1准确率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100">
                <a:solidFill>
                  <a:srgbClr val="A34450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生成式问答：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接入开源大模型，构建RAG架构，在检索基础上生成流畅自然的回答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100">
                <a:solidFill>
                  <a:srgbClr val="A34450"/>
                </a:solidFill>
                <a:latin typeface="Noto Serif SC"/>
                <a:ea typeface="Noto Serif SC"/>
                <a:cs typeface="Noto Serif SC"/>
                <a:sym typeface="Noto Serif SC"/>
              </a:rPr>
              <a:t>03 前端功能完善：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实现知识库管理、历史记录检索、统计图表可视化等完整多页面功能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100">
                <a:solidFill>
                  <a:srgbClr val="A34450"/>
                </a:solidFill>
                <a:latin typeface="Noto Serif SC"/>
                <a:ea typeface="Noto Serif SC"/>
                <a:cs typeface="Noto Serif SC"/>
                <a:sym typeface="Noto Serif SC"/>
              </a:rPr>
              <a:t>04 部署方式优化：</a:t>
            </a:r>
            <a:r>
              <a:rPr lang="en-US" b="false" i="false" strike="noStrike" u="none" sz="11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Docker容器化部署，或部署到云服务器提供在线访问服务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253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7B253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286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52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感谢聆听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429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D4B8A8"/>
                </a:solidFill>
                <a:latin typeface="Noto Serif SC"/>
                <a:ea typeface="Noto Serif SC"/>
                <a:cs typeface="Noto Serif SC"/>
                <a:sym typeface="Noto Serif SC"/>
              </a:rPr>
              <a:t>恳请各位老师批评指正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17188" flipH="false" flipV="false">
            <a:off x="4826016" y="4311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4B8A8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0" y="4699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基于NLP的智能制造知识库问答系统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5143500"/>
            <a:ext cx="1219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5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制造智能技术课程设计 · 2026年9月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